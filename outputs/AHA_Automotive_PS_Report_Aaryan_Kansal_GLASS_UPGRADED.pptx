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ac4f8706a41a4" /><Relationship Type="http://schemas.openxmlformats.org/officeDocument/2006/relationships/extended-properties" Target="/docProps/app.xml" Id="Re8f915c0a5974330" /><Relationship Type="http://schemas.openxmlformats.org/officeDocument/2006/relationships/officeDocument" Target="/ppt/presentation.xml" Id="Rb49f30244278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cac30a5644d51"/>
  </p:sldMasterIdLst>
  <p:notesMasterIdLst>
    <p:notesMasterId xmlns:r="http://schemas.openxmlformats.org/officeDocument/2006/relationships" r:id="Rcce4479e3d0c4e35"/>
  </p:notesMasterIdLst>
  <p:sldIdLst>
    <p:sldId xmlns:r="http://schemas.openxmlformats.org/officeDocument/2006/relationships" id="256" r:id="R58ce53c2fe8b4f7e"/>
    <p:sldId xmlns:r="http://schemas.openxmlformats.org/officeDocument/2006/relationships" id="257" r:id="Re66259b2f21940fc"/>
    <p:sldId xmlns:r="http://schemas.openxmlformats.org/officeDocument/2006/relationships" id="258" r:id="R9e282f8528db433c"/>
    <p:sldId xmlns:r="http://schemas.openxmlformats.org/officeDocument/2006/relationships" id="259" r:id="R88fc0ca32bcd41eb"/>
    <p:sldId xmlns:r="http://schemas.openxmlformats.org/officeDocument/2006/relationships" id="260" r:id="R371b7700b37c42f7"/>
    <p:sldId xmlns:r="http://schemas.openxmlformats.org/officeDocument/2006/relationships" id="261" r:id="Ra6e83d3ed4f04971"/>
    <p:sldId xmlns:r="http://schemas.openxmlformats.org/officeDocument/2006/relationships" id="262" r:id="Rf11f7174a6eb42fb"/>
    <p:sldId xmlns:r="http://schemas.openxmlformats.org/officeDocument/2006/relationships" id="263" r:id="Rbf78651281794ed9"/>
    <p:sldId xmlns:r="http://schemas.openxmlformats.org/officeDocument/2006/relationships" id="264" r:id="Ref6d3f1fdd854946"/>
    <p:sldId xmlns:r="http://schemas.openxmlformats.org/officeDocument/2006/relationships" id="265" r:id="Ra8702114fe604baa"/>
    <p:sldId xmlns:r="http://schemas.openxmlformats.org/officeDocument/2006/relationships" id="266" r:id="Rb81b4d2ec659413d"/>
    <p:sldId xmlns:r="http://schemas.openxmlformats.org/officeDocument/2006/relationships" id="267" r:id="Rfd36b667b3b1487e"/>
    <p:sldId xmlns:r="http://schemas.openxmlformats.org/officeDocument/2006/relationships" id="268" r:id="Rd7365fe64b71413f"/>
    <p:sldId xmlns:r="http://schemas.openxmlformats.org/officeDocument/2006/relationships" id="269" r:id="R3a576dc8674c42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931d64aac4082" /><Relationship Type="http://schemas.openxmlformats.org/officeDocument/2006/relationships/slideMaster" Target="/ppt/slideMasters/slideMaster1.xml" Id="R21dcac30a5644d51" /><Relationship Type="http://schemas.openxmlformats.org/officeDocument/2006/relationships/notesMaster" Target="/ppt/notesMasters/notesMaster1.xml" Id="Rcce4479e3d0c4e35" /><Relationship Type="http://schemas.openxmlformats.org/officeDocument/2006/relationships/presProps" Target="/ppt/presProps.xml" Id="Rc3d452eaf92844fc" /><Relationship Type="http://schemas.openxmlformats.org/officeDocument/2006/relationships/tableStyles" Target="/ppt/tableStyles.xml" Id="R7128b42413804411" /><Relationship Type="http://schemas.openxmlformats.org/officeDocument/2006/relationships/slide" Target="/ppt/slides/slide1.xml" Id="R58ce53c2fe8b4f7e" /><Relationship Type="http://schemas.openxmlformats.org/officeDocument/2006/relationships/slide" Target="/ppt/slides/slide2.xml" Id="Re66259b2f21940fc" /><Relationship Type="http://schemas.openxmlformats.org/officeDocument/2006/relationships/slide" Target="/ppt/slides/slide3.xml" Id="R9e282f8528db433c" /><Relationship Type="http://schemas.openxmlformats.org/officeDocument/2006/relationships/slide" Target="/ppt/slides/slide4.xml" Id="R88fc0ca32bcd41eb" /><Relationship Type="http://schemas.openxmlformats.org/officeDocument/2006/relationships/slide" Target="/ppt/slides/slide5.xml" Id="R371b7700b37c42f7" /><Relationship Type="http://schemas.openxmlformats.org/officeDocument/2006/relationships/slide" Target="/ppt/slides/slide6.xml" Id="Ra6e83d3ed4f04971" /><Relationship Type="http://schemas.openxmlformats.org/officeDocument/2006/relationships/slide" Target="/ppt/slides/slide7.xml" Id="Rf11f7174a6eb42fb" /><Relationship Type="http://schemas.openxmlformats.org/officeDocument/2006/relationships/slide" Target="/ppt/slides/slide8.xml" Id="Rbf78651281794ed9" /><Relationship Type="http://schemas.openxmlformats.org/officeDocument/2006/relationships/slide" Target="/ppt/slides/slide9.xml" Id="Ref6d3f1fdd854946" /><Relationship Type="http://schemas.openxmlformats.org/officeDocument/2006/relationships/slide" Target="/ppt/slides/slide10.xml" Id="Ra8702114fe604baa" /><Relationship Type="http://schemas.openxmlformats.org/officeDocument/2006/relationships/slide" Target="/ppt/slides/slide11.xml" Id="Rb81b4d2ec659413d" /><Relationship Type="http://schemas.openxmlformats.org/officeDocument/2006/relationships/slide" Target="/ppt/slides/slide12.xml" Id="Rfd36b667b3b1487e" /><Relationship Type="http://schemas.openxmlformats.org/officeDocument/2006/relationships/slide" Target="/ppt/slides/slide13.xml" Id="Rd7365fe64b71413f" /><Relationship Type="http://schemas.openxmlformats.org/officeDocument/2006/relationships/slide" Target="/ppt/slides/slide14.xml" Id="R3a576dc8674c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32c3515ab41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165004e4124cd4" /><Relationship Type="http://schemas.openxmlformats.org/officeDocument/2006/relationships/notesMaster" Target="/ppt/notesMasters/notesMaster1.xml" Id="R14c53c51d2fb42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85d1d143d24cb8" /><Relationship Type="http://schemas.openxmlformats.org/officeDocument/2006/relationships/notesMaster" Target="/ppt/notesMasters/notesMaster1.xml" Id="R2f7fb5859554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e8dde2f224d1e" /><Relationship Type="http://schemas.openxmlformats.org/officeDocument/2006/relationships/notesMaster" Target="/ppt/notesMasters/notesMaster1.xml" Id="R46ed541d5bc3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c2a056fc240c4" /><Relationship Type="http://schemas.openxmlformats.org/officeDocument/2006/relationships/notesMaster" Target="/ppt/notesMasters/notesMaster1.xml" Id="Rd87f448a25744c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5cfae6e1134456" /><Relationship Type="http://schemas.openxmlformats.org/officeDocument/2006/relationships/notesMaster" Target="/ppt/notesMasters/notesMaster1.xml" Id="R8fbfd022f702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ae808b9e947a8" /><Relationship Type="http://schemas.openxmlformats.org/officeDocument/2006/relationships/notesMaster" Target="/ppt/notesMasters/notesMaster1.xml" Id="R8771c87263b44c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cf8245418c4a53" /><Relationship Type="http://schemas.openxmlformats.org/officeDocument/2006/relationships/notesMaster" Target="/ppt/notesMasters/notesMaster1.xml" Id="R49d44a89d78144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2899d0ed2148fb" /><Relationship Type="http://schemas.openxmlformats.org/officeDocument/2006/relationships/notesMaster" Target="/ppt/notesMasters/notesMaster1.xml" Id="Rf29daaffe5324f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0b719683a8407a" /><Relationship Type="http://schemas.openxmlformats.org/officeDocument/2006/relationships/notesMaster" Target="/ppt/notesMasters/notesMaster1.xml" Id="Rc887c387ce0f40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5905d039a47f9" /><Relationship Type="http://schemas.openxmlformats.org/officeDocument/2006/relationships/notesMaster" Target="/ppt/notesMasters/notesMaster1.xml" Id="R924e83af56f048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ea49ce44b4e2c" /><Relationship Type="http://schemas.openxmlformats.org/officeDocument/2006/relationships/notesMaster" Target="/ppt/notesMasters/notesMaster1.xml" Id="R23339fd275f141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5aad4b38d4a8b" /><Relationship Type="http://schemas.openxmlformats.org/officeDocument/2006/relationships/notesMaster" Target="/ppt/notesMasters/notesMaster1.xml" Id="Rb9be1328bad540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3ae27add7a4a5e" /><Relationship Type="http://schemas.openxmlformats.org/officeDocument/2006/relationships/notesMaster" Target="/ppt/notesMasters/notesMaster1.xml" Id="Rfacfcf5ee52244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b721686e364603" /><Relationship Type="http://schemas.openxmlformats.org/officeDocument/2006/relationships/notesMaster" Target="/ppt/notesMasters/notesMaster1.xml" Id="R62f11c10d4a7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this project is not just a website. It is a conversion system for AHA Automotive: campaign traffic arrives, users check compatibility, leads are captured, and analytics enables retargeting.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project outcome. Mention that design, frontend engineering, marketing tracking, and dashboard integration were all handled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confusion: there are two websites. React is a public landing funnel. Streamlit is the final interactive demo OS. The dashboard is separate and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funnel simply: traffic source is preserved, the visitor picks a vehicle, the fitment check qualifies intent, and the lead/dashboard systems capture the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screenshot and say this is the visual direction chosen after multiple UI iterations: less school project, more premium automobile-tech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asked, explain the state bug: the selected model state and rendered model had drifted. The fix was keeping the same selected model across hero and compatibility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commands clearly. React/Vite is deployed with npm run build and dist. This is the public static deploy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tracking question. Say that Meta handles ad audiences, Google handles Google Ads lead conversion, and the dashboard handles first-party path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proof slide. The screenshot shows the success state after form submission and the code records the correct marketing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sir asks for code, explain that trackLead is the main abstraction. It avoids repeating Meta/Google/dashboard code in every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best explanation for Streamlit. It does not behave like React; the script reruns, so we track after state-changing buttons and URL parameter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ready to say React is for static Cloudflare deployment, Streamlit is for the final demo UI, and the dashboard is an internal operator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engineering discipline. Mention build, compile, browser interaction, marketing conversion verification, and no hardcoded secrets.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saying the project is ready for demo and feedback. The important next step is replacing placeholders and connecting the live sales/CRM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bd9df19ed41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89ba002a9476a" /><Relationship Type="http://schemas.openxmlformats.org/officeDocument/2006/relationships/slideLayout" Target="/ppt/slideLayouts/slideLayout1.xml" Id="Ra1a7e67c12124f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7e67c12124f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55ce0cb94bc0" /><Relationship Type="http://schemas.openxmlformats.org/officeDocument/2006/relationships/notesSlide" Target="/ppt/notesSlides/notesSlide1.xml" Id="R7b57040e04de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cd166ba854298" /><Relationship Type="http://schemas.openxmlformats.org/officeDocument/2006/relationships/notesSlide" Target="/ppt/notesSlides/notesSlide2.xml" Id="Rb62f9a2dd98e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55fd90434473b" /><Relationship Type="http://schemas.openxmlformats.org/officeDocument/2006/relationships/notesSlide" Target="/ppt/notesSlides/notesSlide3.xml" Id="R32b7554bcb6f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c333960274bcf" /><Relationship Type="http://schemas.openxmlformats.org/officeDocument/2006/relationships/notesSlide" Target="/ppt/notesSlides/notesSlide4.xml" Id="R7baa5b4fcc41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71428bb4c4b8e" /><Relationship Type="http://schemas.openxmlformats.org/officeDocument/2006/relationships/image" Target="/ppt/media/image.png" Id="Racb0f4daa57940a3" /><Relationship Type="http://schemas.openxmlformats.org/officeDocument/2006/relationships/notesSlide" Target="/ppt/notesSlides/notesSlide5.xml" Id="Re248500db24049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f631319194e82" /><Relationship Type="http://schemas.openxmlformats.org/officeDocument/2006/relationships/notesSlide" Target="/ppt/notesSlides/notesSlide6.xml" Id="Rfc92a8837346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d4c25d2084dc9" /><Relationship Type="http://schemas.openxmlformats.org/officeDocument/2006/relationships/notesSlide" Target="/ppt/notesSlides/notesSlide7.xml" Id="R8a380fa550144a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136d602d4783" /><Relationship Type="http://schemas.openxmlformats.org/officeDocument/2006/relationships/notesSlide" Target="/ppt/notesSlides/notesSlide8.xml" Id="R0cd79572de564e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8860087a4b58" /><Relationship Type="http://schemas.openxmlformats.org/officeDocument/2006/relationships/image" Target="/ppt/media/image2.png" Id="Rde2a738fcda0426f" /><Relationship Type="http://schemas.openxmlformats.org/officeDocument/2006/relationships/notesSlide" Target="/ppt/notesSlides/notesSlide9.xml" Id="R194a7419f9db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ff31a5d7346ac" /><Relationship Type="http://schemas.openxmlformats.org/officeDocument/2006/relationships/notesSlide" Target="/ppt/notesSlides/notesSlide10.xml" Id="R4053f3ee34854c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a80e3359e4d1c" /><Relationship Type="http://schemas.openxmlformats.org/officeDocument/2006/relationships/notesSlide" Target="/ppt/notesSlides/notesSlide11.xml" Id="R6da60d440fee48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251d1358f456a" /><Relationship Type="http://schemas.openxmlformats.org/officeDocument/2006/relationships/notesSlide" Target="/ppt/notesSlides/notesSlide12.xml" Id="R3588d8d4cb8240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a683dfa1a4159" /><Relationship Type="http://schemas.openxmlformats.org/officeDocument/2006/relationships/notesSlide" Target="/ppt/notesSlides/notesSlide13.xml" Id="R9a95c78998274e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d0bf3bd3f4c7d" /><Relationship Type="http://schemas.openxmlformats.org/officeDocument/2006/relationships/notesSlide" Target="/ppt/notesSlides/notesSlide14.xml" Id="Rf2266953fb76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AFA5A-34F9-46C5-BE1A-AADD5AAF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38798-BEAE-4940-A644-C672796F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A6F24-0498-4548-8C6F-F5D3571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BC0C7-6BF0-4D5E-9B8D-791A802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F2908-4157-4372-A39D-7992B59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4438-1671-4235-8212-190CB2C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F6090-E8D4-4D35-BE72-898D4570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4C89F-D0BC-4C4D-A3D4-4D54BA0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59801-9423-4BD5-A5D6-0454B49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21448-C206-4230-B236-69F7C0F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BBB5D-D199-4B9D-BF80-FEBCF93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FDABA-F836-42E2-8A43-F9C4841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1A7DA-96D1-4278-8DCB-E4971EB2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3228B-E0EB-435B-92E4-893C0E30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09219-D6E8-4702-A9BE-2058136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PRACTICE SCHOOL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C422F-1BA8-4F18-A9F5-5259E2C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AHA Automotive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9C066-FA3E-4E45-9F85-9F7224F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A8B3C7"/>
                </a:solidFill>
                <a:latin typeface="Aptos"/>
                <a:ea typeface="Aptos"/>
                <a:cs typeface="Aptos"/>
              </a:rPr>
              <a:t>Website Funnel, Compatibility OS &amp; Marketing Intelligence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F01FB-0E8E-441F-8314-E45A614B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857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1B2F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0135C-0F58-4170-9CAE-95F123D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When cruise mode sets in... AHA.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824CE-DA96-4A19-AD85-18525BA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905250" cy="4000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C182A"/>
          </a:solidFill>
          <a:ln xmlns:a="http://schemas.openxmlformats.org/drawingml/2006/main" w="11430">
            <a:solidFill>
              <a:srgbClr val="385B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B04F7-5E49-4D3E-9B71-EF02772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14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NexCruise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48462-FAED-4B01-8615-A1D6EBC5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A8B3C7"/>
                </a:solidFill>
                <a:latin typeface="Aptos"/>
                <a:ea typeface="Aptos"/>
                <a:cs typeface="Aptos"/>
              </a:rPr>
              <a:t>Meta Ads -&gt; Compatibility -&gt; Lead -&gt; Dashboard -&gt; Retargeting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FB1B1-BB4C-417B-A0CF-DC3BCE32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14097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02C15-3246-42C4-B86A-28C69C1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945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8F6BF-9EC8-44E9-BEDA-49F9E4B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Indian brands modeled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B476B-CCC7-47C2-B7C9-FB66ED5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14097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6390F-743A-406E-90A8-9FD2912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C0727-A0B4-45F6-A886-570D3E4C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Connected systems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65D85-B399-43B2-87F1-E9177A7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8B3C7"/>
                </a:solidFill>
                <a:latin typeface="Aptos"/>
                <a:ea typeface="Aptos"/>
                <a:cs typeface="Aptos"/>
              </a:rPr>
              <a:t>Submitted by Aaryan Kansal | 2024A2PS1033H | BITS Pilani</a:t>
            </a:r>
          </a:p>
        </p:txBody>
      </p:sp>
    </p:spTree>
    <p:extLst>
      <p:ext uri="{BB962C8B-B14F-4D97-AF65-F5344CB8AC3E}">
        <p14:creationId xmlns:p14="http://schemas.microsoft.com/office/powerpoint/2010/main" val="1480455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DF558-C24F-4E5C-AF4B-D9FC34D5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F15DB-2514-4345-8A0A-EBC986B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A1489-2DC8-4098-96F0-F34BB1A0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6FEFA-1FDB-4675-A591-9A1DC1D0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ACF80-3D94-49C8-9765-520ECD3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1B7AE-CD80-4AC0-96E8-4D78ECB6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B3C7B-72C8-4C84-B796-E5E00B2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55855-A67F-4997-8C80-33AFE72E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64E3-0D2D-4734-A61B-E3A13267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4FC57-B8E9-4EA2-B1DF-13A6DB8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8F84E-B20B-47A0-96E5-17A1C1A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A4018-BC49-4770-9909-97B7479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5ED80-7BA8-44E4-8762-FB48F7B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1D1F7-EB00-4B12-B68C-E5A75DF3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6D709-FDA6-4965-A18C-D56D9F1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C7094-2955-4B48-90DE-2F6496A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Executive 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E6778-E188-4A84-A97E-AC1816D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What was delivered during the AHA Automotive Practice School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29500-029F-4014-8FF5-477F1DC2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974DF-923D-4024-8DC8-DEDC832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2860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C08B7-9E4E-4045-85FD-958D57BC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70441-AB59-4C55-9F49-C8EB27C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Public landing funnel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5C8AD-9303-44D1-8093-F96B38E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E2360-01C6-4C2B-9E9E-39D4A0C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6D54D-CBEC-45FE-9DFA-A40A1B8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Main demo interface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635E7-D406-49AF-8E5D-DDB20DD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A0FF3-553B-4C5C-9917-959E314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15077-3176-45D1-A666-F5007B0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Marketing intelligence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7E03C-C6D4-4088-A482-28DB0E0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38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A6000-AC35-43FF-AFC1-AB1FAFA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Meta + Google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7EB26-7E2D-46B2-B6C5-647915A0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Tracking stack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3487A-3365-419F-BF8C-65074F2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1C52A4-9614-442F-AFB4-D6E06196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Converted a basic landing page into a funnel with brand selection, compatibility checks, callback forms, WhatsApp CTAs, FAQs, and a mini game.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6CED0-3261-4A25-8F61-BB5B57A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5A3D0-1E6F-4B87-BF05-5D0894E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Reworked the main UI direction into a darker, premium glass-panel Streamlit Compatibility OS.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9111CD-0379-4E08-A11A-D4F586A0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768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E6582A-EB69-4A2B-9EF0-21E57EC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Integrated campaign tracking for Meta Pixel, Google Ads conversion, UTM attribution, and dashboard path events.</a:t>
            </a:r>
          </a:p>
        </p:txBody>
      </p:sp>
    </p:spTree>
    <p:extLst>
      <p:ext uri="{BB962C8B-B14F-4D97-AF65-F5344CB8AC3E}">
        <p14:creationId xmlns:p14="http://schemas.microsoft.com/office/powerpoint/2010/main" val="68455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ED67C-2787-4AC2-B827-6F380D3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FE289-343F-4F3C-8DCA-0F1C6E03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01CA-6B53-4590-A9E3-38808653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4962-3991-4FE7-9505-D76F78F0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CB764-20A9-4CAD-B702-A912CE91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23248-9AA8-4C57-B6D3-868F178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A8A2B-68DE-4B41-A4A7-93FF8F1A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8DA0A-8566-44B1-91D7-B24BB2FB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FA1CF-67D8-4E46-A203-EAD7A6F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4C42F-EA1A-4E96-9FF0-86F2A992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D1925-99C7-48DB-B635-245902AB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35158-F2EB-438E-83CA-2F5E7F5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589A7-F3A3-4CAB-8775-7E1FD60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1C903-2AD4-4A4E-8165-49AC0BF6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1D459-0AA3-4426-97E0-AC1E3A4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FEF55-77D4-447A-A9E1-B211A3C4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Two Websites + One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EB5D-57E0-4697-8F29-A1C47CE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project has two user-facing surfaces and one operator surface.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7B9A7-D233-4ED6-86D0-F5C2C491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DC964-CAC5-4450-B635-69F99EB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4300C-7DEF-416E-ADB0-A5D0016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F8356-7C82-466A-A042-45BDACF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6EF92-90F4-46D0-8746-93A8F1B0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948F0-0B6A-4EC1-8569-BE4457F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React/Vite Funnel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88308-C8CA-4F38-899C-74FB61F0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Cloudflare-ready campaign landing page for Meta/Instagram traffic and fast CTA conversion.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EEFC6-D6D8-4DA7-8289-464E7412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D913F-96F5-4DEC-9707-A834B510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908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Streamlit Compatibility 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B0C2F-7E6C-4212-8E45-264A9356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57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Final demo direction with dynamic car model selection, fitment workspace, 3D model panels, and lead capture.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B9E76-FF67-4934-AD1D-031C7BC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FE0098-4162-446C-9320-34C85FC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Marketing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52D8C-C111-470C-B9CD-5E79948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Internal dashboard for leads, path drop-off, attribution, source freshness, and campaign decisions.</a:t>
            </a:r>
          </a:p>
        </p:txBody>
      </p:sp>
    </p:spTree>
    <p:extLst>
      <p:ext uri="{BB962C8B-B14F-4D97-AF65-F5344CB8AC3E}">
        <p14:creationId xmlns:p14="http://schemas.microsoft.com/office/powerpoint/2010/main" val="1319006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2DC68-C0E9-487E-96CE-866F92A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C8E29-598E-4EB8-88DC-C52E843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09A5C-02DE-44AB-B5B0-4FE7C39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0E871-465F-46F8-AD2D-A508EE1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F64FB-7F28-4D6B-868F-DEBDA4A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11312-84C8-4586-8FBA-95FCDE5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32975-FE87-48FB-A965-E0CAF9BB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8EF62-3A60-4C95-8044-622D59B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F42EB-2377-473F-A99B-817061F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A3AD3-5DAB-457D-B57F-2AE1F80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0CBB6-9FAB-49EE-A63A-C6D43F2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17945-8F60-42D2-88B9-F7F2C41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2485E-BFD2-4A8F-A976-FEA9535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A8EA4-BB74-4004-8F64-EFEAA869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B34FD-F337-4807-928A-04183D34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52E49-B65F-4265-85A0-E5987BE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Funnel 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E1DDD-5A26-4FA4-BF7B-D655022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AHA Automotive became a conversion-focused journey instead of a static site.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2D138-FBDA-4E0C-A631-3C0EF1A9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EBFD0-FCE1-4FE3-A255-A532051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A6166-76DA-43B9-9072-884CAA5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14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84C3C-7BB9-42AB-B2AE-A2BB942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57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Meta / Instagram / WhatsApp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D45C6-AAEC-40B3-984F-1CCBC1C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1265A-9FE8-481B-89A6-8930B85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14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7AE60-B840-411A-9334-B64706EE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14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E42A1-118B-4237-8D32-07350046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57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Landing / Streamlit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FBEC1-FE6D-4A55-B039-053F0897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971F4-AAF2-4CBD-8135-40E34F9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14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7BC27-AAC3-4EA5-A79F-42024ACC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14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3AF1A-0B08-4E81-8776-3CC2F36A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57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Compatibility Scan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592334-48D0-4E33-A80B-126144F7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57F23-7E98-4762-B32B-21C5D0E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14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74D57-F91F-4852-8986-D6EF487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4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4A761-AE2B-4DBF-B6A9-3D90005C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57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Lead / WhatsApp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39875-397F-4AB9-993A-81928F63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7B974-EA65-4A39-9C07-9136C96B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14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9609E-769D-4691-B208-6E1457E1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14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01BDC-37D0-48EC-B35F-6369570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57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+ Retargeting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C9DC46-5A70-41EE-92CD-A670AA0F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C31EC-7DAA-4301-99A6-56DC452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UTM source changes the experience: direct, Meta, Instagram, WhatsApp, and Google visitors get campaign-aware copy and attribution.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118F0-B721-4F79-B204-40B3B19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C0A622-46B0-4BF3-95A2-D50038A5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012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system records behavior at each meaningful stage, enabling retargeting audiences and path drop-off analysis.</a:t>
            </a:r>
          </a:p>
        </p:txBody>
      </p:sp>
    </p:spTree>
    <p:extLst>
      <p:ext uri="{BB962C8B-B14F-4D97-AF65-F5344CB8AC3E}">
        <p14:creationId xmlns:p14="http://schemas.microsoft.com/office/powerpoint/2010/main" val="1514036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8A692-A76D-4E78-AF6A-1ED98D4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6838D-0B3B-4271-A2C2-506B68CB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1F58-C784-4C39-8D15-8C464A9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843EC-0804-4349-A826-F3E80DB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8ED8-951C-45C1-A40C-930E8CC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F6D4-30FC-4599-9BDD-4D6EA58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A30DA-78D4-401F-BF66-5B832D0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B7324-BB0F-4317-BF30-04D3F3A4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9046B-F896-4A47-9BCC-AE617AC3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D108C-F3B9-4AA1-BCC0-57D3301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CD5AB-A858-4D69-8320-F5720B81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114F1-B419-407C-8311-2D2548ED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C9118-9595-4C39-BD8E-3F58F8A4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3A676-BF73-4241-A11F-2BBE99A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40B01-2E34-4FD5-91BB-26E6769C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CE7BF-89B9-486A-B45C-ED9F886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Streamlit Compatibility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01D78-2F99-422D-BAB6-CC78B61F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final UI direction: premium, glassy, interactive, and brand-aware.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4B4C-4A24-4CAC-A36A-5EB24E5C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E4334-DD8C-4F9B-A4DD-A91E108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529590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0B1425"/>
          </a:solidFill>
          <a:ln xmlns:a="http://schemas.openxmlformats.org/drawingml/2006/main" w="11430">
            <a:solidFill>
              <a:srgbClr val="2C466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0f4daa57940a3"/>
          <a:srcRect xmlns:a="http://schemas.openxmlformats.org/drawingml/2006/main" l="0" t="11455" r="0" b="11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9550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2CC84-5039-4FF9-BD2B-3BFED74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3E024-D9DD-4B96-B9F7-315D38D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this became the main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8130B-5525-407D-B693-E05521F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956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FF27E-870D-4199-89BF-790128B8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Dark premium automotive palette instead of flat green/basic static styling.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507F3-DA59-44A0-A443-DDCECAC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052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BB461-7617-4F94-8446-FFDAC33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Large typography, translucent panels, and dynamic model-specific vehicle space.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12504-D356-444C-83C4-1F59A64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148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78253-76EE-4D88-A6B1-B33E780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UTM-aware hero copy and lead-capture context make the demo relevant for Meta Ads.</a:t>
            </a:r>
          </a:p>
        </p:txBody>
      </p:sp>
    </p:spTree>
    <p:extLst>
      <p:ext uri="{BB962C8B-B14F-4D97-AF65-F5344CB8AC3E}">
        <p14:creationId xmlns:p14="http://schemas.microsoft.com/office/powerpoint/2010/main" val="15384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F2BB8-8EFC-4D24-836E-4D8A17B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D143B-4DE8-4125-852A-AD71DCE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55C91-8431-47FD-A61D-C0C3FAB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E2AD2-4948-4D85-8C45-FDFE6622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B364C-35C1-4DC9-BEC3-451D3BB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92A6E-6F59-40A9-B1B9-F7A020D8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8A0AE-16FC-4E38-B0EB-8D27EC61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C6D73-61C9-4CDB-9AF5-EFBE1610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0788F-2EEB-4A53-B87E-9CBB7A1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FA5E2-15B5-4902-9D9C-A4CD09D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4033B-4043-4583-BDF6-390824B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6613D-C1C0-4FB1-905B-BDA1E66D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D981A-5C2A-4F18-A220-F2BB165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8CC46-C664-467B-8D0D-2D9884C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40846-53C9-45D3-B7FA-1EF35665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4DD53-6875-498D-84D5-3D7F6B95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Dynamic Brand + 3D Vehicle 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978DB-0B3C-4DF6-8CA5-57CA5964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AHA stays constant while the car experience adapts.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C968C-59F2-48D2-A229-A7C48513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A951A-1DD7-4BD6-A7DC-8976965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66EAB-5EA5-4A93-8966-800DE3B4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Tata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E618B-9E09-407D-9589-52EDD8B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B0EB2-0F4B-4F82-AD12-856C78FA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28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Mahindra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067DB-EB07-4433-8369-62C80E7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6527F-F9D0-4F04-B9C3-0EFA899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Hyundai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52BB6-E303-4A04-A52A-91DD8F1B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BED5F-7EEF-4724-BA79-DFBF566D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45285-CCAE-4752-B18C-0810E92F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9F6C1-92ED-4296-94B0-28D57E0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Maruti Suzuki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AB47F-7DCE-4524-A783-53711CE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9722E-D48C-4383-9850-0BDC474A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86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Toyota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FE4EA-5997-4177-B1DF-ECDE350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CC33A-8627-4316-9DA5-CE1AD30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Honda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48484-7B38-4F83-A191-38544DEF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77476-177C-4AC4-9803-DFF5197B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C6F47-10BC-44D2-A663-3269F2FD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95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8B180A-8A65-4BE6-94E7-46DED09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Vehicle-model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32B66A-485D-4BB6-9BA2-B185F53B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8B3C7"/>
                </a:solidFill>
                <a:latin typeface="Aptos"/>
                <a:ea typeface="Aptos"/>
                <a:cs typeface="Aptos"/>
              </a:rPr>
              <a:t>Tata Nexon, Punch, and Safari were wired to local 3D/fallback assets with consistent camera roles: side view for hero, top-down fitment view for compatibility.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74907-0906-4994-BA96-AAFCE83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5095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C9C66A-0762-4003-933C-03EE1C28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Fixes made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7744C2-49A3-4D2A-81D5-A7EA97D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149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A8B3C7"/>
                </a:solidFill>
                <a:latin typeface="Aptos"/>
                <a:ea typeface="Aptos"/>
                <a:cs typeface="Aptos"/>
              </a:rPr>
              <a:t>Removed mismatched panels, corrected stale model switching, stopped brand cards from opening new tabs, and kept selections in a single-page flow.</a:t>
            </a:r>
          </a:p>
        </p:txBody>
      </p:sp>
    </p:spTree>
    <p:extLst>
      <p:ext uri="{BB962C8B-B14F-4D97-AF65-F5344CB8AC3E}">
        <p14:creationId xmlns:p14="http://schemas.microsoft.com/office/powerpoint/2010/main" val="818582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386FA-89B7-4519-9A1F-8C8342DA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3790C-F403-45D9-BFD4-C0E83404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DDF04-A00C-43F5-BD57-47540DCE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0CAA9-778E-4137-9BC5-7EA0DD0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2D779-9012-41D4-8DA3-93D7F33E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2CEE6-6882-4D4D-9439-9AEB2F4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C442-C992-41DC-9498-81ADA99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A08BC-D04A-44FC-A046-5B09F45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056FA-82A5-403B-88A2-8AB0FE2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1F472-D170-42D9-8CEE-112BD80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B35B6-30C0-4C84-A95E-241822DC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8F49D-DCDD-4526-8796-B6C8B3A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8B418-0BEB-422E-ABB3-E217ECBC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77571-A830-4EB2-9510-F1C26B6F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F64D5-ED66-44B7-9446-EA7E2E40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89B3B-4A04-4CC7-AA7C-E6AD46CE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React/Vite Landing Funnel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03ECC-5EB4-4980-BE3F-C66B05D9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Cloudflare-ready public campaign website remains useful as the lightweight landing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9AE41-EAF1-457C-98CA-663B67E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40E75-C247-428E-81E1-A0BB4059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857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6F6ED-3417-4D5F-878F-A857439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Core sections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986B0-1239-4F0A-AA50-6941550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84634-635A-4083-8618-8950233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Hero CTAs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2722C-4DD5-4973-AAAF-347BFD09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385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691F7-D883-4008-A80C-97B8AC2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Dynamic brand selector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61556-B71F-4B4C-A1E6-5596215E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814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EC9E1-4E59-4CD7-A693-FD5F13A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Compatibility checker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713AA-877A-4EFA-B5FF-D4D98E48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243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BB081-9951-488E-A261-04B9E20B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Features + FAQ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D17CA-383B-4D88-B806-AE07531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0380C-34E3-4368-973A-09428B9A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Mini game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6EC7D-C9A7-4621-9935-B114331C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09624-4601-4388-BBB2-68B278B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Callback + WhatsApp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DC531-7C8A-4D60-876D-698BDD4F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957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50A13"/>
          </a:solidFill>
          <a:ln xmlns:a="http://schemas.openxmlformats.org/drawingml/2006/main" w="11430">
            <a:solidFill>
              <a:srgbClr val="2034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1DB0B-969B-46F4-A2FB-237969E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3676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run dev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run build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# Cloudflare Pages output: dist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226777-53EB-4863-B639-10DD14A6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React version is fast to host publicly and keeps the campaign funnel available even if the Streamlit OS is used for demos.</a:t>
            </a:r>
          </a:p>
        </p:txBody>
      </p:sp>
    </p:spTree>
    <p:extLst>
      <p:ext uri="{BB962C8B-B14F-4D97-AF65-F5344CB8AC3E}">
        <p14:creationId xmlns:p14="http://schemas.microsoft.com/office/powerpoint/2010/main" val="1332230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5EDB2-5FCB-4FBE-AB0E-A0EE98BD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37405-9E0B-4C1E-BD86-7FB2B6A4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BF6F0-4688-44BA-9DBF-8F1F367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B2A46-2785-43D8-BBF7-CFC8249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ACF9-357E-4320-AFAA-B83FC6B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A226A-8F4E-4202-B611-43AE05D8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A41B5-FC99-4296-8E2F-3AEF358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D75D3-7948-4011-9AAC-9D6875F0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B3F2D-B8E3-49FF-B767-2A9AB2FC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A749-0EB5-41D5-9CF8-DEF6A09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CD481-2762-4B94-A43A-B92054D8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2F6DD-87FE-44F2-B1D5-18CDA40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14105-DECE-463D-A1F6-29E058BD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48852-4260-49BB-AF1A-ABE8FBF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27576-6354-4BDF-A760-BBFF2957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70F52-B23F-46ED-B17A-B6A445D4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Tracking + Integration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86A93-FC92-4269-91E9-28D69763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Meta Ads, Google Ads, and first-party dashboard tracking are now connected.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A25BA-F5CE-4BCE-B41C-788924C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9226F-F68E-4DB5-82D9-A0D4671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3909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D1A09-D85F-4B14-90AD-51879600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Meta Pixel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CD6F8-45F7-4BCE-9134-C32AC5EB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Pixel ID: 2687561291629470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Test event: TEST40117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Events: PageView, Lead, Contact, Used_Tool, BrandSelected, FAQOpened, MiniGameCompleted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287EF-D0DA-488C-A92E-A5F4B3D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3909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5E0A9-CD38-47FF-ABD4-906354C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Google 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217D6-7A1A-4EC2-AC07-7B01108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Conversion ID: AW-18243205076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Lead send_to: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AW-18243205076/UYYRCM7u18AcENTvhPtD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Fires on compatibility/callback lead submits.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C7399-DA30-48BF-A0E7-4AEBFBD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3909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B3A96-0ACA-4098-A857-59C1AA67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385C1-E598-434F-A932-F0BF8D9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Endpoint: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/api/track/event</a:t>
            </a:r>
          </a:p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Canonical IDs: web.check_compatibility_click, web.connect_with_aha_dost_click, web.callback_form_completion.</a:t>
            </a:r>
          </a:p>
        </p:txBody>
      </p:sp>
    </p:spTree>
    <p:extLst>
      <p:ext uri="{BB962C8B-B14F-4D97-AF65-F5344CB8AC3E}">
        <p14:creationId xmlns:p14="http://schemas.microsoft.com/office/powerpoint/2010/main" val="1805777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53190-9582-4E07-8BD9-96004A1C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1507E-A18D-4541-988B-69EA63AD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CDBFA-DE34-4268-AB4C-96D58EA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7965-AF1C-46E2-8BD9-0B30CD2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33E88-986C-427C-ABA8-A9ADD1A5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EA217-75FC-4F1A-A47F-40BABAB7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09D7-28E5-4D39-BD1D-C0694614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1D0B5-842E-4B17-8FAB-E608E5F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3C629-5274-468E-A406-DF3ED16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B9EB2-53DF-4962-B368-20B2DA82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6BF10-D8B5-4C42-9B64-0349D84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034B3-E70E-4651-9D56-32E60FA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B3C32-74D5-4705-9A0B-CA54A73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2D390-4BA1-4E30-AE67-9076F27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603A8-BCB7-49D1-B581-50DD92F0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C2C48-DA1C-4062-8338-D1429D1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Lead Capture + Dashboard Sync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FADFC-0A6F-41FA-B8D2-F628B3E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form is no longer isolated; it connects to sales and attribution.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2BE20-5406-43E9-A37F-763D08C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6949-A020-4CED-A0D9-78F3B333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629275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425"/>
          </a:solidFill>
          <a:ln xmlns:a="http://schemas.openxmlformats.org/drawingml/2006/main" w="11430">
            <a:solidFill>
              <a:srgbClr val="2C466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a738fcda0426f"/>
          <a:srcRect xmlns:a="http://schemas.openxmlformats.org/drawingml/2006/main" l="0" t="12890" r="0" b="12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5476875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13EF8-6B49-4ED1-ABF4-6E8B93A3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0957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68CE4-C242-4B3D-820F-592C7BCA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Lead data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E91F4-C895-4950-8BA0-4828FFE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8A555-175F-4ECE-8BE2-423D6D03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03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User submits phone, brand, model, city, preferred 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6517E-5491-4662-960F-2E16E80E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ECC42-ED74-4019-8482-ABEDFA4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718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Meta receives Lead event with test_event_code for Events Manager.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4C456-7A4F-4D22-B5A2-22B18D26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75F40-B545-4733-AB65-35B9AAA9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433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Google receives conversion event for the uploaded tracking tag.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38519-99A0-462E-95B9-31638181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3FAA3-D028-40C9-8656-54E3E80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148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Dashboard receives canonical web.* path event with session + UTM context.</a:t>
            </a:r>
          </a:p>
        </p:txBody>
      </p:sp>
    </p:spTree>
    <p:extLst>
      <p:ext uri="{BB962C8B-B14F-4D97-AF65-F5344CB8AC3E}">
        <p14:creationId xmlns:p14="http://schemas.microsoft.com/office/powerpoint/2010/main" val="535463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EACA0-232D-4E46-B7C6-5FC92C0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CF776-2381-44C3-B1AE-114D00D9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89EC7-D455-4EE5-9465-E76729E8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383B8-921F-4812-90C0-412047F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FD2A-C019-46C7-84BB-CF7834B6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25682-324B-4E0A-A214-290530F6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F4211-0D96-4D05-B625-5D81F6C3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D35F-28DB-4421-B1E4-6051B7F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6680B-9DA5-47A0-AAE4-43E548F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9632-AE47-4DB2-9CB3-B306C35C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1B857-4B18-442B-BEB4-E9897D4B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3BC83-DDC9-4295-8535-DCF0FF78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6D10E-4908-415F-B878-07EF7A6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3AD7B-8B98-4DDA-8421-C433F0C8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4C5DA-F457-4CD4-99EE-7C149C1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A9CA7-B771-4FE9-81E1-CE7945FA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Code Walkthrough: React 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C7380-D30D-40C2-90F5-26FDC966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Centralized event routing in src/tracking.js.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4F80B-0568-4BA8-BF86-7210842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E645A-C85F-4730-B5E8-F6B6257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048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50A13"/>
          </a:solidFill>
          <a:ln xmlns:a="http://schemas.openxmlformats.org/drawingml/2006/main" w="11430">
            <a:solidFill>
              <a:srgbClr val="2034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B7348-5ECA-4F88-965F-5E268AF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export function trackLead(eventName, data = {}) {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trackMeta("Lead", data);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trackFunnel(eventName, data);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trackGoogleAdsLeadConversion({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event_category: "lead",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event_label: eventName,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value: 1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});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8F659-6286-4088-970E-CB2E872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23AE8-0145-4CE4-938D-2882751F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042FD-B31E-49D4-9EA6-FA3C513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One form submission fans out to Meta, Google Ads, and first-party dashboard tracking.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5D1D4-7BD4-4246-A091-5880B2F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B2A47-0314-4B35-84FF-1373BAB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UTM parameters and generated session ID are attached so campaign source is not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856BC-2C5D-4136-BAC3-E8A95383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24B37-EA66-4F7F-8734-D9952FC5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Dashboard keys stay in environment variables; no private key is committed.</a:t>
            </a:r>
          </a:p>
        </p:txBody>
      </p:sp>
    </p:spTree>
    <p:extLst>
      <p:ext uri="{BB962C8B-B14F-4D97-AF65-F5344CB8AC3E}">
        <p14:creationId xmlns:p14="http://schemas.microsoft.com/office/powerpoint/2010/main" val="827004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BA699-D00A-4DBB-A16E-6BE52DB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165F6-BF84-4B9F-A62E-E5F2C13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BA80E-71CD-42EF-AE93-18992170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14709-1F87-4F95-980F-BA1436E0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805FE-F5DD-44B3-8832-E763B6E2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00213-6853-4AB5-9075-5D850FD2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F4CCD-3295-4158-ACE3-A0E7659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B25A0-AC40-4EF8-90E9-075DCB0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86116-70B1-473E-B3F5-AFAA016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98349-13CD-43CB-9CB0-E0C40BC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C73E4-2C44-4AD3-8314-D6F3A93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EB199-8825-4E41-9B95-8AADA45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7EF0F-AC47-49F2-98F3-033CF89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0C168-513A-4970-B82C-D8CC9CF0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D7908-186D-4949-B477-614E19E1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03528-B891-401D-B52D-95F001E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Code Walkthrough: Streamlit 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569B6-7276-499A-A0EF-A0FDDED9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final Streamlit UI now fires matching marketing signals.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43B80-E552-4452-B5E8-F99AC01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DBFC1-67ED-4E3C-8F07-1130310F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4292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050A13"/>
          </a:solidFill>
          <a:ln xmlns:a="http://schemas.openxmlformats.org/drawingml/2006/main" w="11430">
            <a:solidFill>
              <a:srgbClr val="2034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0DA9C-35F5-4D1B-A756-BF07BCB9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5010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if st.button("Run NexCruise scan", key="run_scan"):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run_compatibility_check()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track_event(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"CheckCompatibilityClicked",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data={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    "brand": st.session_state.selected_brand,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    "model": st.session_state.selected_model,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    "city": st.session_state.selected_region,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    },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EE1AA-3ABF-4BF4-86A5-2490E6D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69F20-5C21-41D2-B532-FBF284F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BA9F3-C826-4CAF-B253-76C95297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31E59-DD01-4150-ACBC-80D8AE0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Streamlit reruns on interaction, so tracking is tied to state transitions.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FCA49-260F-4620-B939-ADAF2315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2D9B9-3183-491B-9F99-518A090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Brand/query changes record BrandSelected with campaign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F8ED4-23A3-4087-934D-AE1F4EA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146C5-14EC-4A9F-9E00-FD19692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291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Callback submission fires Meta Lead + Google conversion + dashboard completion.</a:t>
            </a:r>
          </a:p>
        </p:txBody>
      </p:sp>
    </p:spTree>
    <p:extLst>
      <p:ext uri="{BB962C8B-B14F-4D97-AF65-F5344CB8AC3E}">
        <p14:creationId xmlns:p14="http://schemas.microsoft.com/office/powerpoint/2010/main" val="954051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48608-19A5-480C-A356-ED7AA58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AEA08-1B4A-44B4-B916-DA381B2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2BCF7-44CE-456E-B22A-A5A80F85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5B25E-B379-45D8-931D-851299FA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DC6D6-92B9-455A-994A-00D3F04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B8FCF-FFBA-40F2-AD56-A784DA6C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60878-ACF4-45E6-8E7E-907E572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CD2AC-BF51-43CF-A740-91EEF009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5665E-35ED-4212-A89A-F7927CC7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95B1F-F6C3-4D12-B81C-93B3C9BB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1E5D5-227E-4463-8856-A96793F5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B6710-E399-4855-80EE-EEAB3A90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3DB4A-34C2-495D-9120-A806DA2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D7FA2-D8B8-48E4-BDA0-9E3299E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9A19A-9E9D-4546-BB18-A1141A4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AEAB4-A920-4EEB-8441-775AC90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Deployment + Commands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19F27-7CFD-4E82-A0A7-CCFD1B4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How the project can be opened, built, and hosted.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1CD82-42C4-4397-8695-D340533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9AD93-5207-4D84-90F5-C17CE98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A13"/>
          </a:solidFill>
          <a:ln xmlns:a="http://schemas.openxmlformats.org/drawingml/2006/main" w="11430">
            <a:solidFill>
              <a:srgbClr val="2034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8D0EC-4DCA-4139-96A6-2E3300B1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0576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# React landing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cd one-page-landing-main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run dev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# Cloudflare Pages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Build command: npm run build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Build output: dist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96E57-86A3-461D-A992-ADAF5C3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A13"/>
          </a:solidFill>
          <a:ln xmlns:a="http://schemas.openxmlformats.org/drawingml/2006/main" w="11430">
            <a:solidFill>
              <a:srgbClr val="2034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95A6F-CB9D-4DBA-A668-5328814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43434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# Streamlit final UI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cd one-page-landing-main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streamlit run app.py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# Dashboard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cd digital_marketing-master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 xmlns:a="http://schemas.openxmlformats.org/drawingml/2006/main">
            <a:pPr>
              <a:defRPr sz="975">
                <a:solidFill>
                  <a:srgbClr val="D9E7FF"/>
                </a:solidFill>
                <a:latin typeface="Consolas"/>
                <a:ea typeface="Consolas"/>
                <a:cs typeface="Consolas"/>
              </a:defRPr>
            </a:pPr>
            <a:r>
              <a:rPr sz="975">
                <a:solidFill>
                  <a:srgbClr val="D9E7FF"/>
                </a:solidFill>
                <a:latin typeface="Consolas"/>
                <a:ea typeface="Consolas"/>
                <a:cs typeface="Consolas"/>
              </a:rPr>
              <a:t>npm run dev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C1462-9CC2-4365-8AF2-3328742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3429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1B2F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B7DF2-6F28-4426-9942-43D8FB9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02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GitHub repo: aaryan1107/ahalandingpage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22199-FD41-4615-9472-7AF655D4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31432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1B2F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87DEB-4F9E-4FE0-9D1C-F413187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1020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Dashboard endpoint: /api/track/event</a:t>
            </a:r>
          </a:p>
        </p:txBody>
      </p:sp>
    </p:spTree>
    <p:extLst>
      <p:ext uri="{BB962C8B-B14F-4D97-AF65-F5344CB8AC3E}">
        <p14:creationId xmlns:p14="http://schemas.microsoft.com/office/powerpoint/2010/main" val="1171245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EB5DC-2D23-411C-ACBC-4FEEF95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19A11-9B57-4ED5-9CD9-91B2306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AC19C-7801-495E-A56A-7935D2D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08C9-00F4-4490-9F75-903B74F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4755F-DEEE-49E1-8A31-BB2C92D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28950-26F2-4EAC-9F17-2FF9FC8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8D6A1-C656-4841-9E47-DC2A474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6A48B-4D93-4AD8-ADE6-D82A506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A84AF-CCEF-4FD8-90A3-B073CE2E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ED67C-07FB-45C8-8CE7-24831ED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260F0-7D48-41BB-916A-E6387AB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0770-0A12-42C8-BA39-6CE353B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3B7BD-6FF1-47A6-94E0-CA197CA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FB976-AB81-43D4-92D3-0AEEBB7E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B46E5-25A5-491F-AC57-06B98C9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1AB7C-23CF-4026-98EC-D8B8A03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QA + Security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60C88-A680-4233-BC32-1395D65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final integrations were checked beyond just visual inspection.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D2D6D-B4F6-4897-AC81-EE5B8BB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A1C88-294C-4808-A25C-D43269D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6186F-6943-4C4F-B784-715F215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npm run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B048B-A32B-43C3-95E0-3C3FF63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AFBD9-6DAF-4AF9-95F0-07F62F04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50FF1-F739-46C6-AB2E-9F8A301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Python compile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A982E-0B43-4840-A452-85454B3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77D2D-C1E1-45BE-9A40-9DC814A1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B6DF3-461A-4A65-81BC-52C2B3DC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Meta Pixel event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BD8A8-22AE-42C0-85B3-B514EDF2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24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0C861-D033-4EE5-80DE-CA18194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9B20E-1867-4B76-9691-F853C29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Google Ads conversion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02EFA5-8A5D-42C0-80A7-ED380EA5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635F7-4928-41F2-8E8B-EC64F30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8700F-A7A0-4FC7-9A17-44253293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POST payload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8FFA2-F68F-4206-96C5-DA37425B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D5C4B-B828-4E37-92AE-F86CD61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38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CA4DB-FF54-4AF3-B786-9A94561B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Hardcoded secret scan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3B2BE6-E383-4717-A23B-A3554437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62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8C16E2-97D2-47DA-876D-D0191008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Security note: private dashboard keys are environment variables only. Analytics POST failures are caught so tracking can never break the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2749423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00CB2-F72A-47B0-A285-0E7E63C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4F053-B3F8-46F5-B77E-1C6F06C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72DE2-E90A-4A61-AE80-B0EB935E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1619250"/>
            <a:ext cx="4953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111F"/>
          </a:solidFill>
          <a:ln xmlns:a="http://schemas.openxmlformats.org/drawingml/2006/main" w="0">
            <a:solidFill>
              <a:srgbClr val="31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734D7-CFD7-46EC-ADFD-C325767F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55245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149"/>
          </a:solidFill>
          <a:ln xmlns:a="http://schemas.openxmlformats.org/drawingml/2006/main" w="0">
            <a:solidFill>
              <a:srgbClr val="07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48A92-3ABF-4E97-85E4-4F2CBC8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36C85-2502-40DE-9B72-372DC12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77EC2-8EAE-4034-A48E-5154F54B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1D473-2913-4202-83E6-A58A34A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7426A-7106-4B18-AD64-8C4A185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ECF59-F35C-47FB-AFB6-EF819D2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55B61-A620-45A7-AA9E-0A51CEF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32E1F-1A05-4100-9D4F-F9E1214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CB62C-0E79-468A-A343-AE43CCA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CE7B7-ECF0-406C-9410-7F4568FE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14A"/>
          </a:solidFill>
          <a:ln xmlns:a="http://schemas.openxmlformats.org/drawingml/2006/main" w="0">
            <a:solidFill>
              <a:srgbClr val="1D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2C970-66EC-447C-AB9A-1FFB723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AHA AUTOMOTIVE / PRACTICE SCHOOL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2753C-A992-4564-8C0F-D52CF32F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Final Outcome + Next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79288-D41E-4EA7-9A0F-2DE41811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3C7"/>
                </a:solidFill>
                <a:latin typeface="Aptos"/>
                <a:ea typeface="Aptos"/>
                <a:cs typeface="Aptos"/>
              </a:rPr>
              <a:t>AHA Automotive now has a demoable funnel system and a clean production roadmap.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7C221-A798-4193-98C5-434BC30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Aaryan Kansal  |  2024A2PS1033H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05BAC-4725-4F22-8DD2-7DBA6E7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7625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A9E93-786D-471F-860F-7D713065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2FD39-0068-41DA-A69B-3C00000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B5EF6-E5FD-49AB-AEB9-167E08C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Premium Streamlit Compatibility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33141-8605-40A0-BE83-F5DF26A6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60936-CEC3-4FE4-B0DA-9B45C16A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528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React/Vite public funnel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59FE2-287E-43B6-980F-66D8C149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1046E-6049-47FA-A67F-44A9CA8B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Brand/model dynamic experience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C2B30-8B87-464F-8C5C-1741C5C6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671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0794A-7142-4AB4-B080-C33C8C6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Meta + Google + dashboard tracking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BA4F4-3247-4A85-B866-4B680AC5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0205CB-AF45-4E7E-A727-C6F61E0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Lead capture and dashboard sync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7B5A9-6F1B-4F45-A5C9-B621B58D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7625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1430">
            <a:solidFill>
              <a:srgbClr val="2941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524F8-0D58-437C-9B06-F7D5F84A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4D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4D5E"/>
                </a:solidFill>
                <a:latin typeface="Aptos"/>
                <a:ea typeface="Aptos"/>
                <a:cs typeface="Aptos"/>
              </a:rPr>
              <a:t>Next phase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C0A86C-BBC7-4AE6-B586-34E7264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956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6C818-2E61-4D60-B758-67CF0B4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289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Replace placeholder WhatsApp number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03319A-09EB-4622-9F46-B01B42B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194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136D1-19E6-4E98-9FC4-3209B4A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Finalize CRM or NeoDove lead route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89B861-38A2-4616-8D2B-BEFCFE1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58C302-5005-4181-8EB7-A2BAEA7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Host Streamlit or rebuild its UI in React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E52B18-420B-4AA3-BC63-E918A36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671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23AEF9-844D-4AF9-96B7-6F4A3C2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Add server-side Meta Conversion 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58016E-C6BE-4862-845A-352CBF0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910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C1BDA0-8754-478B-9FD7-9BF2BA8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3C7"/>
                </a:solidFill>
                <a:latin typeface="Aptos"/>
                <a:ea typeface="Aptos"/>
                <a:cs typeface="Aptos"/>
              </a:rPr>
              <a:t>Use final product videos/assets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97D64C-DBBF-4117-BA8D-54BF9EA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A8B3C7"/>
                </a:solidFill>
                <a:latin typeface="Aptos"/>
                <a:ea typeface="Aptos"/>
                <a:cs typeface="Aptos"/>
              </a:rPr>
              <a:t>Submitted by Aaryan Kansal | 2024A2PS1033H | BITS Pilani Practice School</a:t>
            </a:r>
          </a:p>
        </p:txBody>
      </p:sp>
    </p:spTree>
    <p:extLst>
      <p:ext uri="{BB962C8B-B14F-4D97-AF65-F5344CB8AC3E}">
        <p14:creationId xmlns:p14="http://schemas.microsoft.com/office/powerpoint/2010/main" val="1967545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2026-06-18T00:13:06.8160000Z</dcterms:created>
  <dcterms:modified xsi:type="dcterms:W3CDTF">2026-06-18T00:13:06.8160000Z</dcterms:modified>
</coreProperties>
</file>